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7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1392E-3D3F-2C1F-19FC-B5752F19F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F0EC7-3D55-0959-9F78-0E8DC6C06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DA460-B458-2CE0-631C-1A1FF6954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A90DC-8A9A-6675-E10A-8A73CB430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F15D-420F-EF98-26A0-F46876F1D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05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34CE-5AD5-903B-9205-2471288C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2C579-74E8-F229-E983-6B09AED30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9548-397E-C20C-6297-615B777E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5FD3D-465A-F5D9-DC77-D822FBD7D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A2D7F-74E6-3F8A-561F-4C17FB87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708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6ED5-BC2C-D0B2-4E51-A4116B449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9210E-735E-DBD9-CD59-6CF4C6778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6E25A-D352-9790-6FDC-1F28A627C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BDD21-BA28-F103-AF92-05DDA572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38E2-E4FC-CB85-4130-C5AB45E6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939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EA0A8-323A-6D01-9548-10DC3E8C2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8CDF6-C6DB-F180-5857-95370AD04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8AF6F-97FC-F680-5C29-40AE21E86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E2C12-404D-3360-31FD-5B9EBC7E5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7831E-ACAE-42B4-3D05-A00B117A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7A7FE-1528-3A28-F8DD-16AF65B6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0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101F-33FE-C27D-8032-AFB66DDF4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A4F98-0D14-A1AB-95B7-B932BAC17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0FC20-704D-9ECD-C2DA-B5AAC6A16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CFBBD-77AB-F791-B2C6-E1EA4EFE1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F65170-150E-594F-1869-573B92FDD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7F41C1-2DE4-D6A7-FA8D-808EF9495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3858B-54EB-6C68-6132-049712A19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0A1E6-6AB7-9F27-F06D-D02554F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852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70D3-1738-5279-31CC-44ABC558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D6250-1B6B-6153-2991-CE19B10E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13058-8101-6FC0-45B9-8B37B222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F7C19-1A2D-E25F-BACA-A8F58F483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69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44305-9EA1-9169-78AD-EFD2D4B5B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3C22E-93B4-19BD-B4B7-7C881352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1D1F6-31D1-288B-0FC5-E7FAA86F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198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D922-7A27-2B2C-7594-5E96F4D4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1882D-7711-956D-4926-9B196C8AE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109D1-8F18-B662-8436-6824A731E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16040-AAC5-3501-99A3-50FFDB685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4C8C0-2568-4D76-4D7B-13E46075F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BC95B-1B16-CAA8-AF51-AB76B2AD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493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575B-A923-1328-994E-C785AA4A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37494-4E40-598A-4BBC-0EF59EEC6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D34F4-2BD2-E58E-423C-22A509219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8C34A-4D09-85F7-784C-C274B78CD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A4D7D-4C90-4132-A66B-423891E93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7A0C5-86FE-7918-6465-B9EBBBFA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50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EAE6C-89E7-32D8-E51F-F0B179E0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4237A-C5F4-2AF0-2CFE-DDF8022CA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A8640-6A19-82A0-76ED-554886CC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488DF-03CC-3C8B-A2C9-822031CA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AD590-EBD0-5527-4950-C16B958A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242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3CBA7-AC0E-CC2E-D805-8BEB36E7D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80B51-43E5-2E2E-A101-5972FD988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01A64-1C71-14DF-2F63-7EAD7F03F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D2F30-CD36-2325-B4FA-38C4D053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4B10-BAC4-CA60-68F3-738648C1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34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E1243E-900D-5C84-2963-2FB9A20E1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B48E1-19A7-944B-A261-C5A604739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E40F6-4128-1C2D-36E3-98800EC93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B52B7-2E5E-4C73-9D74-C624B7AD2F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CF683-E1B9-6C9D-131E-5AE2181C0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BD897-C9D6-D81B-B075-46D338FFE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6F335-CC1F-41D4-876E-4E0BFAEA24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08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65A6BA-6FB0-FD06-5DE6-BFA282AFCB4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55B0B-F4CE-E321-6427-F0FE72DC0B1A}"/>
              </a:ext>
            </a:extLst>
          </p:cNvPr>
          <p:cNvSpPr txBox="1"/>
          <p:nvPr/>
        </p:nvSpPr>
        <p:spPr>
          <a:xfrm>
            <a:off x="444500" y="177800"/>
            <a:ext cx="11303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50" b="1">
                <a:solidFill>
                  <a:srgbClr val="0D9488"/>
                </a:solidFill>
                <a:latin typeface="Segoe UI" panose="020B0502040204020203" pitchFamily="34" charset="0"/>
              </a:rPr>
              <a:t>POC-07: PROBLEM STATEMENT &amp; MOTIVATION</a:t>
            </a:r>
          </a:p>
          <a:p>
            <a:r>
              <a:rPr lang="en-US" sz="1900" b="1">
                <a:solidFill>
                  <a:srgbClr val="0F172A"/>
                </a:solidFill>
                <a:latin typeface="Segoe UI" panose="020B0502040204020203" pitchFamily="34" charset="0"/>
              </a:rPr>
              <a:t>Problem Statement, Business Challenges &amp; Solution Vision</a:t>
            </a:r>
          </a:p>
          <a:p>
            <a:r>
              <a:rPr lang="en-US" sz="1050">
                <a:solidFill>
                  <a:srgbClr val="475569"/>
                </a:solidFill>
                <a:latin typeface="Segoe UI" panose="020B0502040204020203" pitchFamily="34" charset="0"/>
              </a:rPr>
              <a:t>Transforming Traditional Reactive Inventory Systems into an Autonomous, Intelligent Ecosystem</a:t>
            </a:r>
            <a:endParaRPr lang="en-IN" sz="105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303FB4-6B49-F4AC-30BC-3FC2C36A8942}"/>
              </a:ext>
            </a:extLst>
          </p:cNvPr>
          <p:cNvSpPr/>
          <p:nvPr/>
        </p:nvSpPr>
        <p:spPr>
          <a:xfrm>
            <a:off x="444500" y="1117600"/>
            <a:ext cx="55499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2AF5F-1CE5-23F0-B8DF-8FD773ADFB74}"/>
              </a:ext>
            </a:extLst>
          </p:cNvPr>
          <p:cNvSpPr/>
          <p:nvPr/>
        </p:nvSpPr>
        <p:spPr>
          <a:xfrm>
            <a:off x="469900" y="1143000"/>
            <a:ext cx="5499100" cy="4445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F461C-3112-EB9C-E319-930C7BD3B032}"/>
              </a:ext>
            </a:extLst>
          </p:cNvPr>
          <p:cNvSpPr txBox="1"/>
          <p:nvPr/>
        </p:nvSpPr>
        <p:spPr>
          <a:xfrm>
            <a:off x="596900" y="1244600"/>
            <a:ext cx="52451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DC2626"/>
                </a:solidFill>
                <a:latin typeface="Segoe UI" panose="020B0502040204020203" pitchFamily="34" charset="0"/>
              </a:rPr>
              <a:t>The Problem: Traditional Inventory Bottlenecks</a:t>
            </a:r>
            <a:endParaRPr lang="en-IN" sz="1200" b="1">
              <a:solidFill>
                <a:srgbClr val="DC2626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5CD20-D000-4613-CE52-E302DFBA423E}"/>
              </a:ext>
            </a:extLst>
          </p:cNvPr>
          <p:cNvSpPr txBox="1"/>
          <p:nvPr/>
        </p:nvSpPr>
        <p:spPr>
          <a:xfrm>
            <a:off x="596900" y="1574800"/>
            <a:ext cx="5245100" cy="121571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â€¢ Reactive &amp; Manual Operations: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  - Stock replenishments triggered only after stockout occurs.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  - Manual demand calculation leads to overstocking or lost sales.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â€¢ Scattered Knowledge &amp; Complex Policies: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  - Operational manuals &amp; SOPs are buried in PDFs and markdown files.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â€¢ Dangerous Uncontrolled AI Deployments: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  - Direct AI-to-database connections risk data corruption, unauthorized spend, and hallucinations bypassing business validation rules.</a:t>
            </a:r>
            <a:endParaRPr lang="en-IN" sz="95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0B1F54-A56B-099C-CA45-7DAD9EB4D279}"/>
              </a:ext>
            </a:extLst>
          </p:cNvPr>
          <p:cNvSpPr/>
          <p:nvPr/>
        </p:nvSpPr>
        <p:spPr>
          <a:xfrm>
            <a:off x="6197600" y="1117600"/>
            <a:ext cx="55499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9BFA9E-D727-E197-FECA-34E9A3C01BBC}"/>
              </a:ext>
            </a:extLst>
          </p:cNvPr>
          <p:cNvSpPr/>
          <p:nvPr/>
        </p:nvSpPr>
        <p:spPr>
          <a:xfrm>
            <a:off x="6223000" y="1143000"/>
            <a:ext cx="5499100" cy="4445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56C344-6443-6301-5515-F03CDED09761}"/>
              </a:ext>
            </a:extLst>
          </p:cNvPr>
          <p:cNvSpPr txBox="1"/>
          <p:nvPr/>
        </p:nvSpPr>
        <p:spPr>
          <a:xfrm>
            <a:off x="6350000" y="1244600"/>
            <a:ext cx="52451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0D9488"/>
                </a:solidFill>
                <a:latin typeface="Segoe UI" panose="020B0502040204020203" pitchFamily="34" charset="0"/>
              </a:rPr>
              <a:t>The Solution: Decoupled Intelligent Enterprise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E67D62-1E43-6447-8DBC-287E5A7F1ABC}"/>
              </a:ext>
            </a:extLst>
          </p:cNvPr>
          <p:cNvSpPr txBox="1"/>
          <p:nvPr/>
        </p:nvSpPr>
        <p:spPr>
          <a:xfrm>
            <a:off x="6350000" y="1574800"/>
            <a:ext cx="5245100" cy="106952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Robust Transactional Backbone (Java 21 / Spring Boot 3):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Single source of truth for business rules, RBAC, and ACID persistence.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Autonomous Multi-Agent Decisioning (LangGraph + Gemini):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- 4 specialized agents predict demand, calculate ROP, and audit stock.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Grounded Knowledge Retrieval (RAG + Ollama):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Zero-hallucination policy answers grounded in SOP vector embeddings.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Human-in-the-Loop Governance: AI advises, humans authorize.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AC4BA41-5CE3-4AE9-702B-F34AAE5DECAA}"/>
              </a:ext>
            </a:extLst>
          </p:cNvPr>
          <p:cNvSpPr/>
          <p:nvPr/>
        </p:nvSpPr>
        <p:spPr>
          <a:xfrm>
            <a:off x="444500" y="3619500"/>
            <a:ext cx="2667000" cy="2984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4E168E-F839-D6B4-9416-530D78F34F1D}"/>
              </a:ext>
            </a:extLst>
          </p:cNvPr>
          <p:cNvSpPr/>
          <p:nvPr/>
        </p:nvSpPr>
        <p:spPr>
          <a:xfrm>
            <a:off x="469900" y="3644900"/>
            <a:ext cx="2616200" cy="4445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D0E2A4-AD63-DD14-E4BC-476E37180087}"/>
              </a:ext>
            </a:extLst>
          </p:cNvPr>
          <p:cNvSpPr txBox="1"/>
          <p:nvPr/>
        </p:nvSpPr>
        <p:spPr>
          <a:xfrm>
            <a:off x="596900" y="3746500"/>
            <a:ext cx="2362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2563EB"/>
                </a:solidFill>
                <a:latin typeface="Segoe UI" panose="020B0502040204020203" pitchFamily="34" charset="0"/>
              </a:rPr>
              <a:t>1. Predictive Stocking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D55C74-8060-78AF-8588-07258201F439}"/>
              </a:ext>
            </a:extLst>
          </p:cNvPr>
          <p:cNvSpPr txBox="1"/>
          <p:nvPr/>
        </p:nvSpPr>
        <p:spPr>
          <a:xfrm>
            <a:off x="596900" y="4076700"/>
            <a:ext cx="2362200" cy="106952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â€¢ Objective: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  Eliminate stockouts and excess buffer inventory.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â€¢ Mechanism: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  Gemini 2.0 analyzes consumption history &amp; forecasts demand trend, days remaining, and stockout risk level.</a:t>
            </a:r>
            <a:endParaRPr lang="en-IN" sz="95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59B08C6-E3E5-9219-6961-BE2E66A2B50E}"/>
              </a:ext>
            </a:extLst>
          </p:cNvPr>
          <p:cNvSpPr/>
          <p:nvPr/>
        </p:nvSpPr>
        <p:spPr>
          <a:xfrm>
            <a:off x="3314700" y="3619500"/>
            <a:ext cx="2667000" cy="2984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F09C80-A52A-1F9D-5650-A7778E6B5D26}"/>
              </a:ext>
            </a:extLst>
          </p:cNvPr>
          <p:cNvSpPr/>
          <p:nvPr/>
        </p:nvSpPr>
        <p:spPr>
          <a:xfrm>
            <a:off x="3340100" y="3644900"/>
            <a:ext cx="2616200" cy="4445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1985D8-FE5F-8623-B785-A949E39B6368}"/>
              </a:ext>
            </a:extLst>
          </p:cNvPr>
          <p:cNvSpPr txBox="1"/>
          <p:nvPr/>
        </p:nvSpPr>
        <p:spPr>
          <a:xfrm>
            <a:off x="3467100" y="3746500"/>
            <a:ext cx="2362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0D9488"/>
                </a:solidFill>
                <a:latin typeface="Segoe UI" panose="020B0502040204020203" pitchFamily="34" charset="0"/>
              </a:rPr>
              <a:t>2. Grounded SOP Access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743CC-7CDD-8F7D-11DC-917B56512CDE}"/>
              </a:ext>
            </a:extLst>
          </p:cNvPr>
          <p:cNvSpPr txBox="1"/>
          <p:nvPr/>
        </p:nvSpPr>
        <p:spPr>
          <a:xfrm>
            <a:off x="3467100" y="4076700"/>
            <a:ext cx="2362200" cy="106952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Objective: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Instant answers to inventory policy &amp; formula queries.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Mechanism: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RAG retrieves manual sections from ChromaDB; anti-hallucination filter guarantees response accuracy.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B08CDF6-93A0-4C2F-425E-217EAC2B6CE9}"/>
              </a:ext>
            </a:extLst>
          </p:cNvPr>
          <p:cNvSpPr/>
          <p:nvPr/>
        </p:nvSpPr>
        <p:spPr>
          <a:xfrm>
            <a:off x="6184900" y="3619500"/>
            <a:ext cx="2667000" cy="2984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C3705-3EB2-1742-C005-D3DB09610EBE}"/>
              </a:ext>
            </a:extLst>
          </p:cNvPr>
          <p:cNvSpPr/>
          <p:nvPr/>
        </p:nvSpPr>
        <p:spPr>
          <a:xfrm>
            <a:off x="6210300" y="3644900"/>
            <a:ext cx="2616200" cy="4445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C37BB-C361-B7D5-FF28-A1A064FBCB3E}"/>
              </a:ext>
            </a:extLst>
          </p:cNvPr>
          <p:cNvSpPr txBox="1"/>
          <p:nvPr/>
        </p:nvSpPr>
        <p:spPr>
          <a:xfrm>
            <a:off x="6337300" y="3746500"/>
            <a:ext cx="2362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7C3AED"/>
                </a:solidFill>
                <a:latin typeface="Segoe UI" panose="020B0502040204020203" pitchFamily="34" charset="0"/>
              </a:rPr>
              <a:t>3. Standardized Tools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947974-8A8B-B37F-E743-49100A9B10A5}"/>
              </a:ext>
            </a:extLst>
          </p:cNvPr>
          <p:cNvSpPr txBox="1"/>
          <p:nvPr/>
        </p:nvSpPr>
        <p:spPr>
          <a:xfrm>
            <a:off x="6337300" y="4076700"/>
            <a:ext cx="2362200" cy="106952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Objective: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Decoupled AI-to-backend communication protocol.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Mechanism: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Model Context Protocol (FastMCP) exposes typed tools calling Spring Boot REST endpoints with JWT auth.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F52CD9-0D89-14A9-3808-7A41E0217C0B}"/>
              </a:ext>
            </a:extLst>
          </p:cNvPr>
          <p:cNvSpPr/>
          <p:nvPr/>
        </p:nvSpPr>
        <p:spPr>
          <a:xfrm>
            <a:off x="9055100" y="3619500"/>
            <a:ext cx="2667000" cy="2984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AB42FF-4884-B321-2A3D-CEAA59F6DCED}"/>
              </a:ext>
            </a:extLst>
          </p:cNvPr>
          <p:cNvSpPr/>
          <p:nvPr/>
        </p:nvSpPr>
        <p:spPr>
          <a:xfrm>
            <a:off x="9080500" y="3644900"/>
            <a:ext cx="2616200" cy="4445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2BABC4-E98B-4212-07D4-22B99F4C5619}"/>
              </a:ext>
            </a:extLst>
          </p:cNvPr>
          <p:cNvSpPr txBox="1"/>
          <p:nvPr/>
        </p:nvSpPr>
        <p:spPr>
          <a:xfrm>
            <a:off x="9207500" y="3746500"/>
            <a:ext cx="2362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D97706"/>
                </a:solidFill>
                <a:latin typeface="Segoe UI" panose="020B0502040204020203" pitchFamily="34" charset="0"/>
              </a:rPr>
              <a:t>4. Financial Governance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ABD588-B633-5E20-6DC7-EDB009528BF5}"/>
              </a:ext>
            </a:extLst>
          </p:cNvPr>
          <p:cNvSpPr txBox="1"/>
          <p:nvPr/>
        </p:nvSpPr>
        <p:spPr>
          <a:xfrm>
            <a:off x="9207500" y="4076700"/>
            <a:ext cx="2362200" cy="106952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â€¢ Objective: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  Prevent AI hallucinations from triggering financial actions.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â€¢ Mechanism:</a:t>
            </a:r>
          </a:p>
          <a:p>
            <a:r>
              <a:rPr lang="en-US" sz="950">
                <a:solidFill>
                  <a:srgbClr val="1E293B"/>
                </a:solidFill>
                <a:latin typeface="Segoe UI" panose="020B0502040204020203" pitchFamily="34" charset="0"/>
              </a:rPr>
              <a:t>  AI advises on replenishment; purchase order creation strictly requires human procurement authorization.</a:t>
            </a:r>
            <a:endParaRPr lang="en-IN" sz="95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23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5FC262-1136-E8F0-BD36-68572CABDE59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6AF50-BEF6-16C6-A5A7-DF5BFE32028F}"/>
              </a:ext>
            </a:extLst>
          </p:cNvPr>
          <p:cNvSpPr txBox="1"/>
          <p:nvPr/>
        </p:nvSpPr>
        <p:spPr>
          <a:xfrm>
            <a:off x="444500" y="177800"/>
            <a:ext cx="11303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50" b="1">
                <a:solidFill>
                  <a:srgbClr val="0D9488"/>
                </a:solidFill>
                <a:latin typeface="Segoe UI" panose="020B0502040204020203" pitchFamily="34" charset="0"/>
              </a:rPr>
              <a:t>PROJECT ARCHITECTURE &amp; TECH STACK</a:t>
            </a:r>
          </a:p>
          <a:p>
            <a:r>
              <a:rPr lang="en-IN" sz="1900" b="1">
                <a:solidFill>
                  <a:srgbClr val="0F172A"/>
                </a:solidFill>
                <a:latin typeface="Segoe UI" panose="020B0502040204020203" pitchFamily="34" charset="0"/>
              </a:rPr>
              <a:t>System Architecture, AI Concepts, LLMs &amp; Databases</a:t>
            </a:r>
          </a:p>
          <a:p>
            <a:r>
              <a:rPr lang="en-US" sz="1050">
                <a:solidFill>
                  <a:srgbClr val="475569"/>
                </a:solidFill>
                <a:latin typeface="Segoe UI" panose="020B0502040204020203" pitchFamily="34" charset="0"/>
              </a:rPr>
              <a:t>Decoupled Enterprise Design: Java Spring Boot 3 Core Backend + Python AI Microservices</a:t>
            </a:r>
            <a:endParaRPr lang="en-IN" sz="105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A7F559-6831-6CCB-ED1D-1BDD07D1E73C}"/>
              </a:ext>
            </a:extLst>
          </p:cNvPr>
          <p:cNvSpPr/>
          <p:nvPr/>
        </p:nvSpPr>
        <p:spPr>
          <a:xfrm>
            <a:off x="444500" y="1117600"/>
            <a:ext cx="2667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7E6AA5-0398-284B-818E-D8C25467652C}"/>
              </a:ext>
            </a:extLst>
          </p:cNvPr>
          <p:cNvSpPr/>
          <p:nvPr/>
        </p:nvSpPr>
        <p:spPr>
          <a:xfrm>
            <a:off x="469900" y="1143000"/>
            <a:ext cx="2616200" cy="4445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D6CED-56B2-8195-7FFC-F4471A251C68}"/>
              </a:ext>
            </a:extLst>
          </p:cNvPr>
          <p:cNvSpPr txBox="1"/>
          <p:nvPr/>
        </p:nvSpPr>
        <p:spPr>
          <a:xfrm>
            <a:off x="596900" y="1244600"/>
            <a:ext cx="2362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2563EB"/>
                </a:solidFill>
                <a:latin typeface="Segoe UI" panose="020B0502040204020203" pitchFamily="34" charset="0"/>
              </a:rPr>
              <a:t>1. Core Backend (Java)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E91B2F-3F50-FB5E-D878-8242876D53C6}"/>
              </a:ext>
            </a:extLst>
          </p:cNvPr>
          <p:cNvSpPr txBox="1"/>
          <p:nvPr/>
        </p:nvSpPr>
        <p:spPr>
          <a:xfrm>
            <a:off x="596900" y="1574800"/>
            <a:ext cx="2362200" cy="121571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Java 21 &amp; Spring Boot 3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Transactional REST API with JWT (Spring Security 6)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Business Rules Engine: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Avail = On-Hand - Reserved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Negative inventory guard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Immutable StockMovement audit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DTO abstraction layer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D08941-3C4D-8703-E201-0E97C40B7F08}"/>
              </a:ext>
            </a:extLst>
          </p:cNvPr>
          <p:cNvSpPr/>
          <p:nvPr/>
        </p:nvSpPr>
        <p:spPr>
          <a:xfrm>
            <a:off x="3314700" y="1117600"/>
            <a:ext cx="2667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840EED-ACC5-7668-ED4C-79391E763AE1}"/>
              </a:ext>
            </a:extLst>
          </p:cNvPr>
          <p:cNvSpPr/>
          <p:nvPr/>
        </p:nvSpPr>
        <p:spPr>
          <a:xfrm>
            <a:off x="3340100" y="1143000"/>
            <a:ext cx="2616200" cy="4445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5CAEF-45DF-DB6F-B7BF-58F0D074DA61}"/>
              </a:ext>
            </a:extLst>
          </p:cNvPr>
          <p:cNvSpPr txBox="1"/>
          <p:nvPr/>
        </p:nvSpPr>
        <p:spPr>
          <a:xfrm>
            <a:off x="3467100" y="1244600"/>
            <a:ext cx="2362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0D9488"/>
                </a:solidFill>
                <a:latin typeface="Segoe UI" panose="020B0502040204020203" pitchFamily="34" charset="0"/>
              </a:rPr>
              <a:t>2. Frontend &amp; Chat UI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EA0E9-2CF2-9540-26EC-277562DFC762}"/>
              </a:ext>
            </a:extLst>
          </p:cNvPr>
          <p:cNvSpPr txBox="1"/>
          <p:nvPr/>
        </p:nvSpPr>
        <p:spPr>
          <a:xfrm>
            <a:off x="3467100" y="1574800"/>
            <a:ext cx="2362200" cy="121571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React 18 + Vite Web App: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Product &amp; supplier registry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Stock adjustment forms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Purchase order workflows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Real-time inventory dashboard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Streamlit Chat Interface: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Conversational inventory assistant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Direct MCP tool execution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0D62CA-1CE9-DC5F-6E1D-30B9B8E6F1CB}"/>
              </a:ext>
            </a:extLst>
          </p:cNvPr>
          <p:cNvSpPr/>
          <p:nvPr/>
        </p:nvSpPr>
        <p:spPr>
          <a:xfrm>
            <a:off x="6184900" y="1117600"/>
            <a:ext cx="2667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4431FB-34A4-22B1-729B-287362B37A03}"/>
              </a:ext>
            </a:extLst>
          </p:cNvPr>
          <p:cNvSpPr/>
          <p:nvPr/>
        </p:nvSpPr>
        <p:spPr>
          <a:xfrm>
            <a:off x="6210300" y="1143000"/>
            <a:ext cx="2616200" cy="4445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424F1E-20C8-59B2-6719-E247E2B73A3C}"/>
              </a:ext>
            </a:extLst>
          </p:cNvPr>
          <p:cNvSpPr txBox="1"/>
          <p:nvPr/>
        </p:nvSpPr>
        <p:spPr>
          <a:xfrm>
            <a:off x="6337300" y="1244600"/>
            <a:ext cx="2362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7C3AED"/>
                </a:solidFill>
                <a:latin typeface="Segoe UI" panose="020B0502040204020203" pitchFamily="34" charset="0"/>
              </a:rPr>
              <a:t>3. AI Concepts Applied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A6594E-AAAD-CF4F-F0B4-2A4614413ADA}"/>
              </a:ext>
            </a:extLst>
          </p:cNvPr>
          <p:cNvSpPr txBox="1"/>
          <p:nvPr/>
        </p:nvSpPr>
        <p:spPr>
          <a:xfrm>
            <a:off x="6337300" y="1574800"/>
            <a:ext cx="2362200" cy="121571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Model Context Protocol (MCP):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Standard tool-calling interface.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Multi-Agent Systems: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Decomposed task specialization.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LangGraph State Machine: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Typed state routing &amp; fallbacks.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Retrieval-Augmented Gen (RAG):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Grounded policy Q&amp;A.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9A662A-0FB5-3B10-7673-C2B40B1C9A79}"/>
              </a:ext>
            </a:extLst>
          </p:cNvPr>
          <p:cNvSpPr/>
          <p:nvPr/>
        </p:nvSpPr>
        <p:spPr>
          <a:xfrm>
            <a:off x="9055100" y="1117600"/>
            <a:ext cx="2667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3933C3-BD06-E3F4-F308-31E01CF71812}"/>
              </a:ext>
            </a:extLst>
          </p:cNvPr>
          <p:cNvSpPr/>
          <p:nvPr/>
        </p:nvSpPr>
        <p:spPr>
          <a:xfrm>
            <a:off x="9080500" y="1143000"/>
            <a:ext cx="2616200" cy="4445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9C3A5F-7E2B-104E-B38C-3980A4195E0B}"/>
              </a:ext>
            </a:extLst>
          </p:cNvPr>
          <p:cNvSpPr txBox="1"/>
          <p:nvPr/>
        </p:nvSpPr>
        <p:spPr>
          <a:xfrm>
            <a:off x="9207500" y="1244600"/>
            <a:ext cx="2362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D97706"/>
                </a:solidFill>
                <a:latin typeface="Segoe UI" panose="020B0502040204020203" pitchFamily="34" charset="0"/>
              </a:rPr>
              <a:t>4. Architectural Decoupling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80FB4E-7CD6-434D-CD32-434F6F174EFD}"/>
              </a:ext>
            </a:extLst>
          </p:cNvPr>
          <p:cNvSpPr txBox="1"/>
          <p:nvPr/>
        </p:nvSpPr>
        <p:spPr>
          <a:xfrm>
            <a:off x="9207500" y="1574800"/>
            <a:ext cx="2362200" cy="121571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Strict Separation of Concerns: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Spring Boot = System of Record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- Python = Intelligence Tier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Zero Direct DB Mutation by AI: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AI services never query/write DB directly; always call REST endpoints.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Preserves ACID consistency &amp; Spring security filters.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355321-6D80-60B5-A6D1-C3A6BD1EB0B2}"/>
              </a:ext>
            </a:extLst>
          </p:cNvPr>
          <p:cNvSpPr/>
          <p:nvPr/>
        </p:nvSpPr>
        <p:spPr>
          <a:xfrm>
            <a:off x="444500" y="3619500"/>
            <a:ext cx="5549900" cy="2984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F69C49-3AD0-BC8D-F806-99CC9CE86C3C}"/>
              </a:ext>
            </a:extLst>
          </p:cNvPr>
          <p:cNvSpPr/>
          <p:nvPr/>
        </p:nvSpPr>
        <p:spPr>
          <a:xfrm>
            <a:off x="469900" y="3644900"/>
            <a:ext cx="5499100" cy="4445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CEAFF6-1B16-0CE7-5CDF-2B953A933CA2}"/>
              </a:ext>
            </a:extLst>
          </p:cNvPr>
          <p:cNvSpPr txBox="1"/>
          <p:nvPr/>
        </p:nvSpPr>
        <p:spPr>
          <a:xfrm>
            <a:off x="596900" y="3746500"/>
            <a:ext cx="52451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Segoe UI" panose="020B0502040204020203" pitchFamily="34" charset="0"/>
              </a:rPr>
              <a:t>Large Language Models (LLM) Strategy</a:t>
            </a:r>
            <a:endParaRPr lang="en-IN" sz="1200" b="1">
              <a:solidFill>
                <a:srgbClr val="2563EB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4E0853-2D20-1239-E053-F1AD0A4932EB}"/>
              </a:ext>
            </a:extLst>
          </p:cNvPr>
          <p:cNvSpPr txBox="1"/>
          <p:nvPr/>
        </p:nvSpPr>
        <p:spPr>
          <a:xfrm>
            <a:off x="596900" y="4076700"/>
            <a:ext cx="5245100" cy="143116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â€¢ Google Gemini 2.0 Flash (Cloud Reasoning LLM):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- Model: gemini-2.0-flash via ChatGoogleGenerativeAI (LangChain).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- Role: Powers Multi-Agent reasoning (demand forecasting, reorder calculation, and audit reporting). Fast JSON extraction for downstream pipeline steps.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â€¢ Ollama / Llama 3.1 8B (Local Privacy-Preserving LLM):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- Model: llama3.1 running locally on http://localhost:11434.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- Role: Powers RAG manual Q&amp;A. Operates on-premise with zero API costs.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â€¢ Nomic Embed Text (Embedding Model):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- Model: nomic-embed-text for 768-dimensional document embeddings.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BBCC5E8-F82A-D983-A7D8-007F4910A880}"/>
              </a:ext>
            </a:extLst>
          </p:cNvPr>
          <p:cNvSpPr/>
          <p:nvPr/>
        </p:nvSpPr>
        <p:spPr>
          <a:xfrm>
            <a:off x="6197600" y="3619500"/>
            <a:ext cx="5549900" cy="2984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811A5B-0B8D-976D-5B63-F7ABD3317E8D}"/>
              </a:ext>
            </a:extLst>
          </p:cNvPr>
          <p:cNvSpPr/>
          <p:nvPr/>
        </p:nvSpPr>
        <p:spPr>
          <a:xfrm>
            <a:off x="6223000" y="3644900"/>
            <a:ext cx="5499100" cy="4445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D11C2D-0341-9AD3-2D4F-562F19B64335}"/>
              </a:ext>
            </a:extLst>
          </p:cNvPr>
          <p:cNvSpPr txBox="1"/>
          <p:nvPr/>
        </p:nvSpPr>
        <p:spPr>
          <a:xfrm>
            <a:off x="6350000" y="3746500"/>
            <a:ext cx="52451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0D9488"/>
                </a:solidFill>
                <a:latin typeface="Segoe UI" panose="020B0502040204020203" pitchFamily="34" charset="0"/>
              </a:rPr>
              <a:t>Databases &amp; Storage Architecture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403B3C-34C2-2BAE-620D-AC7D3BB99496}"/>
              </a:ext>
            </a:extLst>
          </p:cNvPr>
          <p:cNvSpPr txBox="1"/>
          <p:nvPr/>
        </p:nvSpPr>
        <p:spPr>
          <a:xfrm>
            <a:off x="6350000" y="4076700"/>
            <a:ext cx="5245100" cy="158504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â€¢ Relational Database: SQLite (via Spring Data JPA &amp; Hibernate):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- File: inventory.db with JPA Object-Relational Mapping.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- Tables: products, stock_levels, purchase_orders, order_items, suppliers, stock_movements, users.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- Responsibilities: Enforces transactional integrity (@Transactional), foreign key constraints, stock movement audit trails, and inventory counts.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â€¢ Vector Database: ChromaDB (Local Vector Store):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- Persistence: chroma_db/chroma.sqlite3 with collection inventory_manual.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- Responsibilities: Stores chunked manual embeddings (800 chars, 120 overlap). Executes fast cosine similarity searches (k=4) for policy retrieval.</a:t>
            </a:r>
          </a:p>
        </p:txBody>
      </p:sp>
    </p:spTree>
    <p:extLst>
      <p:ext uri="{BB962C8B-B14F-4D97-AF65-F5344CB8AC3E}">
        <p14:creationId xmlns:p14="http://schemas.microsoft.com/office/powerpoint/2010/main" val="58798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84E814-EF61-F3FB-A7C3-48E7D8E25E5A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4733EF-32F2-85AD-CF66-F73E2EF27CE7}"/>
              </a:ext>
            </a:extLst>
          </p:cNvPr>
          <p:cNvSpPr txBox="1"/>
          <p:nvPr/>
        </p:nvSpPr>
        <p:spPr>
          <a:xfrm>
            <a:off x="444500" y="177800"/>
            <a:ext cx="11303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50" b="1">
                <a:solidFill>
                  <a:srgbClr val="0D9488"/>
                </a:solidFill>
                <a:latin typeface="Segoe UI" panose="020B0502040204020203" pitchFamily="34" charset="0"/>
              </a:rPr>
              <a:t>END-TO-END SYSTEM WORKING</a:t>
            </a:r>
          </a:p>
          <a:p>
            <a:r>
              <a:rPr lang="en-US" sz="1900" b="1">
                <a:solidFill>
                  <a:srgbClr val="0F172A"/>
                </a:solidFill>
                <a:latin typeface="Segoe UI" panose="020B0502040204020203" pitchFamily="34" charset="0"/>
              </a:rPr>
              <a:t>System Working Mechanism &amp; User-Request Routing Workflow</a:t>
            </a:r>
          </a:p>
          <a:p>
            <a:r>
              <a:rPr lang="en-US" sz="1050">
                <a:solidFill>
                  <a:srgbClr val="475569"/>
                </a:solidFill>
                <a:latin typeface="Segoe UI" panose="020B0502040204020203" pitchFamily="34" charset="0"/>
              </a:rPr>
              <a:t>How User Actions, Natural Language Prompts, and Operational Inquiries Flow Across the Ecosystem</a:t>
            </a:r>
            <a:endParaRPr lang="en-IN" sz="105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DB7215-E44A-14E8-DB91-537AC951C497}"/>
              </a:ext>
            </a:extLst>
          </p:cNvPr>
          <p:cNvSpPr/>
          <p:nvPr/>
        </p:nvSpPr>
        <p:spPr>
          <a:xfrm>
            <a:off x="444500" y="1117600"/>
            <a:ext cx="11303000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550FC9-7E22-7CE9-C6D5-3F1B4F8B4D65}"/>
              </a:ext>
            </a:extLst>
          </p:cNvPr>
          <p:cNvSpPr/>
          <p:nvPr/>
        </p:nvSpPr>
        <p:spPr>
          <a:xfrm>
            <a:off x="469900" y="1143000"/>
            <a:ext cx="11252200" cy="4445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60EA5-FDA7-E37E-0C36-63CF9DDB31F6}"/>
              </a:ext>
            </a:extLst>
          </p:cNvPr>
          <p:cNvSpPr txBox="1"/>
          <p:nvPr/>
        </p:nvSpPr>
        <p:spPr>
          <a:xfrm>
            <a:off x="596900" y="1244600"/>
            <a:ext cx="10998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High-Level Execution Flow &amp; Request Router</a:t>
            </a:r>
            <a:endParaRPr lang="en-IN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A57548-02AA-917E-A2EF-F47E7A0F282C}"/>
              </a:ext>
            </a:extLst>
          </p:cNvPr>
          <p:cNvSpPr/>
          <p:nvPr/>
        </p:nvSpPr>
        <p:spPr>
          <a:xfrm>
            <a:off x="698500" y="1651000"/>
            <a:ext cx="2476500" cy="1524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rtlCol="0" anchor="ctr"/>
          <a:lstStyle/>
          <a:p>
            <a:pPr algn="ctr"/>
            <a:r>
              <a:rPr lang="en-US" sz="950">
                <a:solidFill>
                  <a:srgbClr val="0F172A"/>
                </a:solidFill>
                <a:latin typeface="Segoe UI" panose="020B0502040204020203" pitchFamily="34" charset="0"/>
              </a:rPr>
              <a:t>[1] User Request Entry</a:t>
            </a:r>
          </a:p>
          <a:p>
            <a:pPr algn="ctr"/>
            <a:endParaRPr lang="en-US" sz="950">
              <a:solidFill>
                <a:srgbClr val="0F172A"/>
              </a:solidFill>
              <a:latin typeface="Segoe UI" panose="020B0502040204020203" pitchFamily="34" charset="0"/>
            </a:endParaRPr>
          </a:p>
          <a:p>
            <a:pPr algn="ctr"/>
            <a:r>
              <a:rPr lang="en-US" sz="950">
                <a:solidFill>
                  <a:srgbClr val="0F172A"/>
                </a:solidFill>
                <a:latin typeface="Segoe UI" panose="020B0502040204020203" pitchFamily="34" charset="0"/>
              </a:rPr>
              <a:t>â€¢ React UI: Operational forms (stock updates, PO review).</a:t>
            </a:r>
          </a:p>
          <a:p>
            <a:pPr algn="ctr"/>
            <a:r>
              <a:rPr lang="en-US" sz="950">
                <a:solidFill>
                  <a:srgbClr val="0F172A"/>
                </a:solidFill>
                <a:latin typeface="Segoe UI" panose="020B0502040204020203" pitchFamily="34" charset="0"/>
              </a:rPr>
              <a:t>â€¢ Streamlit: Chat prompts ('Which items are low in stock?').</a:t>
            </a:r>
            <a:endParaRPr lang="en-IN" sz="950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FC52D121-1C3C-D387-0109-1301F496435E}"/>
              </a:ext>
            </a:extLst>
          </p:cNvPr>
          <p:cNvSpPr/>
          <p:nvPr/>
        </p:nvSpPr>
        <p:spPr>
          <a:xfrm>
            <a:off x="3213100" y="2222500"/>
            <a:ext cx="177800" cy="317500"/>
          </a:xfrm>
          <a:prstGeom prst="can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0ACBD0-DBE5-27E9-B1A9-CCA605219F64}"/>
              </a:ext>
            </a:extLst>
          </p:cNvPr>
          <p:cNvSpPr/>
          <p:nvPr/>
        </p:nvSpPr>
        <p:spPr>
          <a:xfrm>
            <a:off x="3429000" y="1651000"/>
            <a:ext cx="2476500" cy="1524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rtlCol="0" anchor="ctr"/>
          <a:lstStyle/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[2] Intent Router &amp; Dispatch</a:t>
            </a:r>
          </a:p>
          <a:p>
            <a:pPr algn="ctr"/>
            <a:endParaRPr lang="en-IN" sz="950">
              <a:solidFill>
                <a:srgbClr val="0F172A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â€¢ Policy Query -&gt; RAG Engine</a:t>
            </a:r>
          </a:p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â€¢ Real-Time Data -&gt; FastMCP Tools</a:t>
            </a:r>
          </a:p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â€¢ Replenish Plan -&gt; LangGraph Multi-Agent Analysis</a:t>
            </a: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8C556778-73B8-16BC-F406-767CD1FADB5E}"/>
              </a:ext>
            </a:extLst>
          </p:cNvPr>
          <p:cNvSpPr/>
          <p:nvPr/>
        </p:nvSpPr>
        <p:spPr>
          <a:xfrm>
            <a:off x="5943600" y="2222500"/>
            <a:ext cx="177800" cy="317500"/>
          </a:xfrm>
          <a:prstGeom prst="can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8DBDF3-BDDE-3E21-6E89-75D1573EAA6C}"/>
              </a:ext>
            </a:extLst>
          </p:cNvPr>
          <p:cNvSpPr/>
          <p:nvPr/>
        </p:nvSpPr>
        <p:spPr>
          <a:xfrm>
            <a:off x="6159500" y="1651000"/>
            <a:ext cx="2476500" cy="1524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rtlCol="0" anchor="ctr"/>
          <a:lstStyle/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[3] Execution &amp; REST Call</a:t>
            </a:r>
          </a:p>
          <a:p>
            <a:pPr algn="ctr"/>
            <a:endParaRPr lang="en-IN" sz="950">
              <a:solidFill>
                <a:srgbClr val="0F172A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â€¢ Tools make HTTP REST calls with Bearer JWT.</a:t>
            </a:r>
          </a:p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â€¢ Spring Boot executes JPA rules &amp; queries SQLite.</a:t>
            </a:r>
          </a:p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â€¢ LLM synthesizes response.</a:t>
            </a: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B61DFEC9-62BF-7EDB-5E83-9D5D7416383B}"/>
              </a:ext>
            </a:extLst>
          </p:cNvPr>
          <p:cNvSpPr/>
          <p:nvPr/>
        </p:nvSpPr>
        <p:spPr>
          <a:xfrm>
            <a:off x="8674100" y="2222500"/>
            <a:ext cx="177800" cy="317500"/>
          </a:xfrm>
          <a:prstGeom prst="can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59C1F01-B150-CC8A-C84A-308503A30B49}"/>
              </a:ext>
            </a:extLst>
          </p:cNvPr>
          <p:cNvSpPr/>
          <p:nvPr/>
        </p:nvSpPr>
        <p:spPr>
          <a:xfrm>
            <a:off x="8890000" y="1651000"/>
            <a:ext cx="2476500" cy="1524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rtlCol="0" anchor="ctr"/>
          <a:lstStyle/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[4] Guardrail &amp; Delivery</a:t>
            </a:r>
          </a:p>
          <a:p>
            <a:pPr algn="ctr"/>
            <a:endParaRPr lang="en-IN" sz="950">
              <a:solidFill>
                <a:srgbClr val="0F172A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â€¢ RAG token overlap verification.</a:t>
            </a:r>
          </a:p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â€¢ Multi-agent fallback checks.</a:t>
            </a:r>
          </a:p>
          <a:p>
            <a:pPr algn="ctr"/>
            <a:r>
              <a:rPr lang="en-IN" sz="950">
                <a:solidFill>
                  <a:srgbClr val="0F172A"/>
                </a:solidFill>
                <a:latin typeface="Segoe UI" panose="020B0502040204020203" pitchFamily="34" charset="0"/>
              </a:rPr>
              <a:t>â€¢ Human-in-the-loop review for purchase commitments.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CB546FC-BC32-F70F-7338-E77BE1C3BC39}"/>
              </a:ext>
            </a:extLst>
          </p:cNvPr>
          <p:cNvSpPr/>
          <p:nvPr/>
        </p:nvSpPr>
        <p:spPr>
          <a:xfrm>
            <a:off x="444500" y="3556000"/>
            <a:ext cx="3632200" cy="304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B1D3A9-3149-90BE-217C-C245C4B5A8D8}"/>
              </a:ext>
            </a:extLst>
          </p:cNvPr>
          <p:cNvSpPr/>
          <p:nvPr/>
        </p:nvSpPr>
        <p:spPr>
          <a:xfrm>
            <a:off x="469900" y="3581400"/>
            <a:ext cx="3581400" cy="4445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572EF3-8A7A-4774-80B9-FF473AD83F51}"/>
              </a:ext>
            </a:extLst>
          </p:cNvPr>
          <p:cNvSpPr txBox="1"/>
          <p:nvPr/>
        </p:nvSpPr>
        <p:spPr>
          <a:xfrm>
            <a:off x="596900" y="3683000"/>
            <a:ext cx="3327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2563EB"/>
                </a:solidFill>
                <a:latin typeface="Segoe UI" panose="020B0502040204020203" pitchFamily="34" charset="0"/>
              </a:rPr>
              <a:t>Working Scenario A: Policy Inquiry</a:t>
            </a:r>
            <a:endParaRPr lang="en-IN" sz="1200" b="1">
              <a:solidFill>
                <a:srgbClr val="2563EB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808D62-2834-E37D-4135-C65B5C209C56}"/>
              </a:ext>
            </a:extLst>
          </p:cNvPr>
          <p:cNvSpPr txBox="1"/>
          <p:nvPr/>
        </p:nvSpPr>
        <p:spPr>
          <a:xfrm>
            <a:off x="596900" y="4013200"/>
            <a:ext cx="3327400" cy="121571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Trigger: 'What is the reorder point formula?'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Working Mechanism: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1. Streamlit passes question to FastAPI RAG.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2. Query embedded via nomic-embed-text.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3. ChromaDB performs cosine retrieval (k=4).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4. Prompt + retrieved context sent to Ollama (Llama 3.1).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5. Guardrail evaluates token-overlap against chunks.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6. Formatted answer returned with source citations.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ECA929-7558-BF43-C8A9-2316CF891FBE}"/>
              </a:ext>
            </a:extLst>
          </p:cNvPr>
          <p:cNvSpPr/>
          <p:nvPr/>
        </p:nvSpPr>
        <p:spPr>
          <a:xfrm>
            <a:off x="4279900" y="3556000"/>
            <a:ext cx="3632200" cy="304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227E30-C8AF-4CD2-3F50-48AE492D722E}"/>
              </a:ext>
            </a:extLst>
          </p:cNvPr>
          <p:cNvSpPr/>
          <p:nvPr/>
        </p:nvSpPr>
        <p:spPr>
          <a:xfrm>
            <a:off x="4305300" y="3581400"/>
            <a:ext cx="3581400" cy="4445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F4A110-CD3A-BBAB-9BC5-24D59E56BEB7}"/>
              </a:ext>
            </a:extLst>
          </p:cNvPr>
          <p:cNvSpPr txBox="1"/>
          <p:nvPr/>
        </p:nvSpPr>
        <p:spPr>
          <a:xfrm>
            <a:off x="4432300" y="3683000"/>
            <a:ext cx="3327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0D9488"/>
                </a:solidFill>
                <a:latin typeface="Segoe UI" panose="020B0502040204020203" pitchFamily="34" charset="0"/>
              </a:rPr>
              <a:t>Working Scenario B: Live Tool Call</a:t>
            </a:r>
            <a:endParaRPr lang="en-IN" sz="12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8266A-7E97-7197-3393-4F10AC349ACD}"/>
              </a:ext>
            </a:extLst>
          </p:cNvPr>
          <p:cNvSpPr txBox="1"/>
          <p:nvPr/>
        </p:nvSpPr>
        <p:spPr>
          <a:xfrm>
            <a:off x="4432300" y="4013200"/>
            <a:ext cx="3327400" cy="136191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Trigger: 'Which items are below safe stock?'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Working Mechanism: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1. Agent selects tool get_low_stock_products().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2. FastMCP handles call with timeout &amp; span tracing.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3. Sends HTTP GET /stock/low-alerts with JWT.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4. Spring Boot queries SQLite: quantityOnHand &lt;= minStockThreshold.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5. Returns structured JSON to FastMCP.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6. Assistant formats and displays alerts table.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0862C92-8E83-0CA9-58F2-4C96751F9921}"/>
              </a:ext>
            </a:extLst>
          </p:cNvPr>
          <p:cNvSpPr/>
          <p:nvPr/>
        </p:nvSpPr>
        <p:spPr>
          <a:xfrm>
            <a:off x="8115300" y="3556000"/>
            <a:ext cx="3632200" cy="304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EDAA64-345F-9C85-556D-C1D2ACF5AA79}"/>
              </a:ext>
            </a:extLst>
          </p:cNvPr>
          <p:cNvSpPr/>
          <p:nvPr/>
        </p:nvSpPr>
        <p:spPr>
          <a:xfrm>
            <a:off x="8140700" y="3581400"/>
            <a:ext cx="3581400" cy="4445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0E7D8D-4295-3F56-0E76-FED2B3EEC573}"/>
              </a:ext>
            </a:extLst>
          </p:cNvPr>
          <p:cNvSpPr txBox="1"/>
          <p:nvPr/>
        </p:nvSpPr>
        <p:spPr>
          <a:xfrm>
            <a:off x="8267700" y="3683000"/>
            <a:ext cx="3327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7C3AED"/>
                </a:solidFill>
                <a:latin typeface="Segoe UI" panose="020B0502040204020203" pitchFamily="34" charset="0"/>
              </a:rPr>
              <a:t>Working Scenario C: Replenishment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6870B-6449-7C6C-AE14-5582B5B42FBE}"/>
              </a:ext>
            </a:extLst>
          </p:cNvPr>
          <p:cNvSpPr txBox="1"/>
          <p:nvPr/>
        </p:nvSpPr>
        <p:spPr>
          <a:xfrm>
            <a:off x="8267700" y="4013200"/>
            <a:ext cx="3327400" cy="136191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Trigger: 'Analyze Product #1 for replenishment'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â€¢ Working Mechanism: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1. LangGraph initializes state with product_id=1.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2. 4 Agents execute in sequence: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   Demand -&gt; Reorder -&gt; Supplier -&gt; Auditor.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3. Combines live REST data + Gemini reasoning.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4. Auditor outputs audit report.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5. Procurement user reviews in React UI.</a:t>
            </a:r>
          </a:p>
          <a:p>
            <a:r>
              <a:rPr lang="en-IN" sz="950">
                <a:solidFill>
                  <a:srgbClr val="1E293B"/>
                </a:solidFill>
                <a:latin typeface="Segoe UI" panose="020B0502040204020203" pitchFamily="34" charset="0"/>
              </a:rPr>
              <a:t>  6. User creates Purchase Order manually.</a:t>
            </a:r>
          </a:p>
        </p:txBody>
      </p:sp>
    </p:spTree>
    <p:extLst>
      <p:ext uri="{BB962C8B-B14F-4D97-AF65-F5344CB8AC3E}">
        <p14:creationId xmlns:p14="http://schemas.microsoft.com/office/powerpoint/2010/main" val="167348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F6AEFE-98B6-9382-7B9C-653DC39CD9A4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E113F-077C-26A5-B9B8-B9F447A8DBF6}"/>
              </a:ext>
            </a:extLst>
          </p:cNvPr>
          <p:cNvSpPr txBox="1"/>
          <p:nvPr/>
        </p:nvSpPr>
        <p:spPr>
          <a:xfrm>
            <a:off x="444500" y="177800"/>
            <a:ext cx="11303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50" b="1">
                <a:solidFill>
                  <a:srgbClr val="0D9488"/>
                </a:solidFill>
                <a:latin typeface="Segoe UI" panose="020B0502040204020203" pitchFamily="34" charset="0"/>
              </a:rPr>
              <a:t>MULTI-AGENT WORKFLOW &amp; STATE MACHINE</a:t>
            </a:r>
          </a:p>
          <a:p>
            <a:r>
              <a:rPr lang="en-IN" sz="1900" b="1">
                <a:solidFill>
                  <a:srgbClr val="0F172A"/>
                </a:solidFill>
                <a:latin typeface="Segoe UI" panose="020B0502040204020203" pitchFamily="34" charset="0"/>
              </a:rPr>
              <a:t>LangGraph 4-Agent Autonomous Inventory Optimization</a:t>
            </a:r>
          </a:p>
          <a:p>
            <a:r>
              <a:rPr lang="en-US" sz="1050">
                <a:solidFill>
                  <a:srgbClr val="475569"/>
                </a:solidFill>
                <a:latin typeface="Segoe UI" panose="020B0502040204020203" pitchFamily="34" charset="0"/>
              </a:rPr>
              <a:t>Step-by-Step Working of Demand Forecaster, Reorder Agent, Supplier Coordinator &amp; Inventory Auditor</a:t>
            </a:r>
            <a:endParaRPr lang="en-IN" sz="105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8402EC-D04B-612F-A573-E756E9897064}"/>
              </a:ext>
            </a:extLst>
          </p:cNvPr>
          <p:cNvSpPr/>
          <p:nvPr/>
        </p:nvSpPr>
        <p:spPr>
          <a:xfrm>
            <a:off x="444500" y="1117600"/>
            <a:ext cx="11303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605F16-7374-76C4-5216-E664B0881C21}"/>
              </a:ext>
            </a:extLst>
          </p:cNvPr>
          <p:cNvSpPr/>
          <p:nvPr/>
        </p:nvSpPr>
        <p:spPr>
          <a:xfrm>
            <a:off x="469900" y="1143000"/>
            <a:ext cx="11252200" cy="4445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A42BB-8BC8-5BD1-BF9E-7442BAAE784A}"/>
              </a:ext>
            </a:extLst>
          </p:cNvPr>
          <p:cNvSpPr txBox="1"/>
          <p:nvPr/>
        </p:nvSpPr>
        <p:spPr>
          <a:xfrm>
            <a:off x="596900" y="1244600"/>
            <a:ext cx="10998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7C3AED"/>
                </a:solidFill>
                <a:latin typeface="Segoe UI" panose="020B0502040204020203" pitchFamily="34" charset="0"/>
              </a:rPr>
              <a:t>LangGraph State Machine Architecture &amp; Routing Logic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D6B69C-8E95-EA33-E1B5-5D6DCA108B39}"/>
              </a:ext>
            </a:extLst>
          </p:cNvPr>
          <p:cNvSpPr/>
          <p:nvPr/>
        </p:nvSpPr>
        <p:spPr>
          <a:xfrm>
            <a:off x="698500" y="1600200"/>
            <a:ext cx="2476500" cy="1676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rtlCol="0" anchor="ctr"/>
          <a:lstStyle/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Agent 1: Demand Forecaster</a:t>
            </a:r>
          </a:p>
          <a:p>
            <a:pPr algn="ctr"/>
            <a:endParaRPr lang="en-IN" sz="920">
              <a:solidFill>
                <a:srgbClr val="0F172A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Inputs: product_id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Action: GET /products/{id}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LLM: Gemini 2.0 Flash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Output: Daily demand rate, demand trend, days remaining, stockout risk (LOW/MED/HIGH).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D87FD972-78E4-B4A0-8729-95C7BAFFB423}"/>
              </a:ext>
            </a:extLst>
          </p:cNvPr>
          <p:cNvSpPr/>
          <p:nvPr/>
        </p:nvSpPr>
        <p:spPr>
          <a:xfrm>
            <a:off x="3213100" y="2171700"/>
            <a:ext cx="177800" cy="317500"/>
          </a:xfrm>
          <a:prstGeom prst="can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84A88E-4E09-2EBB-BAD5-CE255E997AFF}"/>
              </a:ext>
            </a:extLst>
          </p:cNvPr>
          <p:cNvSpPr/>
          <p:nvPr/>
        </p:nvSpPr>
        <p:spPr>
          <a:xfrm>
            <a:off x="3429000" y="1600200"/>
            <a:ext cx="2476500" cy="1676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rtlCol="0" anchor="ctr"/>
          <a:lstStyle/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Agent 2: Reorder Decisioner</a:t>
            </a:r>
          </a:p>
          <a:p>
            <a:pPr algn="ctr"/>
            <a:endParaRPr lang="en-IN" sz="920">
              <a:solidFill>
                <a:srgbClr val="0F172A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Inputs: Forecast &amp; stock levels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Action: Evaluates safety stock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Math: ROP = (d x L) + SS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Output: Reorder needed (Y/N), recommended quantity, urgency status, reasoning notes.</a:t>
            </a: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866F5915-26CC-ECDC-C605-F28C48741C2F}"/>
              </a:ext>
            </a:extLst>
          </p:cNvPr>
          <p:cNvSpPr/>
          <p:nvPr/>
        </p:nvSpPr>
        <p:spPr>
          <a:xfrm>
            <a:off x="5943600" y="2171700"/>
            <a:ext cx="177800" cy="317500"/>
          </a:xfrm>
          <a:prstGeom prst="can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66C12E-C175-972D-9E29-7690E300F447}"/>
              </a:ext>
            </a:extLst>
          </p:cNvPr>
          <p:cNvSpPr/>
          <p:nvPr/>
        </p:nvSpPr>
        <p:spPr>
          <a:xfrm>
            <a:off x="6159500" y="1600200"/>
            <a:ext cx="2476500" cy="1676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rtlCol="0" anchor="ctr"/>
          <a:lstStyle/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Agent 3: Supplier Coordinator</a:t>
            </a:r>
          </a:p>
          <a:p>
            <a:pPr algn="ctr"/>
            <a:endParaRPr lang="en-IN" sz="920">
              <a:solidFill>
                <a:srgbClr val="0F172A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Inputs: Reorder recommendations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Action: GET /suppliers/{id}/catalog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Logic: Checks supplier price, MOQ, and expected lead times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Output: Supplier match, total procurement cost, draft PO payload.</a:t>
            </a: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7E0F8CAD-18E0-0CE8-AEBC-C08369F08696}"/>
              </a:ext>
            </a:extLst>
          </p:cNvPr>
          <p:cNvSpPr/>
          <p:nvPr/>
        </p:nvSpPr>
        <p:spPr>
          <a:xfrm>
            <a:off x="8674100" y="2171700"/>
            <a:ext cx="177800" cy="317500"/>
          </a:xfrm>
          <a:prstGeom prst="can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58713A5-09DC-6A7E-DBD8-984622EF73F8}"/>
              </a:ext>
            </a:extLst>
          </p:cNvPr>
          <p:cNvSpPr/>
          <p:nvPr/>
        </p:nvSpPr>
        <p:spPr>
          <a:xfrm>
            <a:off x="8890000" y="1600200"/>
            <a:ext cx="2476500" cy="1676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101600" rIns="101600" rtlCol="0" anchor="ctr"/>
          <a:lstStyle/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Agent 4: Inventory Auditor</a:t>
            </a:r>
          </a:p>
          <a:p>
            <a:pPr algn="ctr"/>
            <a:endParaRPr lang="en-IN" sz="920">
              <a:solidFill>
                <a:srgbClr val="0F172A"/>
              </a:solidFill>
              <a:latin typeface="Segoe UI" panose="020B0502040204020203" pitchFamily="34" charset="0"/>
            </a:endParaRP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Inputs: Complete state history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Action: Cross-checks logic &amp; rules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LLM: Gemini 2.0 (or Fallback)</a:t>
            </a:r>
          </a:p>
          <a:p>
            <a:pPr algn="ctr"/>
            <a:r>
              <a:rPr lang="en-IN" sz="920">
                <a:solidFill>
                  <a:srgbClr val="0F172A"/>
                </a:solidFill>
                <a:latin typeface="Segoe UI" panose="020B0502040204020203" pitchFamily="34" charset="0"/>
              </a:rPr>
              <a:t>â€¢ Output: Executive audit report with risk ratings, financial estimates, and actionable recommendations.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709B4D7-AE65-0290-4C38-F1B838E5A11E}"/>
              </a:ext>
            </a:extLst>
          </p:cNvPr>
          <p:cNvSpPr/>
          <p:nvPr/>
        </p:nvSpPr>
        <p:spPr>
          <a:xfrm>
            <a:off x="444500" y="3619500"/>
            <a:ext cx="5549900" cy="2984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56830F-D4F9-C1D4-7162-2BBCF7AADFF3}"/>
              </a:ext>
            </a:extLst>
          </p:cNvPr>
          <p:cNvSpPr/>
          <p:nvPr/>
        </p:nvSpPr>
        <p:spPr>
          <a:xfrm>
            <a:off x="469900" y="3644900"/>
            <a:ext cx="5499100" cy="4445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843487-7883-3FF7-1F2E-3BA1DD1399E0}"/>
              </a:ext>
            </a:extLst>
          </p:cNvPr>
          <p:cNvSpPr txBox="1"/>
          <p:nvPr/>
        </p:nvSpPr>
        <p:spPr>
          <a:xfrm>
            <a:off x="596900" y="3746500"/>
            <a:ext cx="52451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2563EB"/>
                </a:solidFill>
                <a:latin typeface="Segoe UI" panose="020B0502040204020203" pitchFamily="34" charset="0"/>
              </a:rPr>
              <a:t>State Representation (InventoryAnalysisState)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04A5DE-D507-C61B-20E5-B9568AF1C53D}"/>
              </a:ext>
            </a:extLst>
          </p:cNvPr>
          <p:cNvSpPr txBox="1"/>
          <p:nvPr/>
        </p:nvSpPr>
        <p:spPr>
          <a:xfrm>
            <a:off x="596900" y="4076700"/>
            <a:ext cx="5245100" cy="143116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â€¢ Shared Typed Dictionary across all 4 agents: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product_id: Target product under optimization.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demand_forecast: Dict with daily demand, trend, risk score.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reorder_decision: Dict with reorderRequired, quantity, urgency.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supplier_info: Matched vendor, unit cost, calculated total.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audit_report: Final markdown report with recommendation.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errors: Accumulator list recording network/LLM anomalies.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analysis_status: Current lifecycle state (running/complete/error).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â€¢ Immutable state updates: Each agent returns state copies without side-effects.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A0386A7-32C0-1821-9CCA-F780429E652B}"/>
              </a:ext>
            </a:extLst>
          </p:cNvPr>
          <p:cNvSpPr/>
          <p:nvPr/>
        </p:nvSpPr>
        <p:spPr>
          <a:xfrm>
            <a:off x="6197600" y="3619500"/>
            <a:ext cx="5549900" cy="2984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BCD08-383C-1237-8C03-F9E8D926BDAF}"/>
              </a:ext>
            </a:extLst>
          </p:cNvPr>
          <p:cNvSpPr/>
          <p:nvPr/>
        </p:nvSpPr>
        <p:spPr>
          <a:xfrm>
            <a:off x="6223000" y="3644900"/>
            <a:ext cx="5499100" cy="4445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52884A-56B6-E9DC-0E77-2AFA14CE827F}"/>
              </a:ext>
            </a:extLst>
          </p:cNvPr>
          <p:cNvSpPr txBox="1"/>
          <p:nvPr/>
        </p:nvSpPr>
        <p:spPr>
          <a:xfrm>
            <a:off x="6350000" y="3746500"/>
            <a:ext cx="52451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0D9488"/>
                </a:solidFill>
                <a:latin typeface="Segoe UI" panose="020B0502040204020203" pitchFamily="34" charset="0"/>
              </a:rPr>
              <a:t>Conditional Edge Routing &amp; Resilience Working</a:t>
            </a:r>
            <a:endParaRPr lang="en-IN" sz="1200" b="1">
              <a:solidFill>
                <a:srgbClr val="0D9488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FD42A5-A34A-FFDD-F329-CAFFB7ED9E86}"/>
              </a:ext>
            </a:extLst>
          </p:cNvPr>
          <p:cNvSpPr txBox="1"/>
          <p:nvPr/>
        </p:nvSpPr>
        <p:spPr>
          <a:xfrm>
            <a:off x="6350000" y="4076700"/>
            <a:ext cx="5245100" cy="143116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â€¢ Conditional Edge (should_skip_to_audit):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After Agent 1 finishes, the graph inspects state['errors'].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If len(errors) &gt;= 3 OR analysis_status == 'error':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 Immediately short-circuits to Agent 4 (Inventory Auditor).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Else: Routes smoothly to Agent 2 (Reorder Agent).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â€¢ Deterministic Fallback Mechanism: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If Gemini API is unreachable (HTTP 500 / quota exceeded):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  The auditor computes an algorithmic fallback audit using raw stock metrics.</a:t>
            </a:r>
          </a:p>
          <a:p>
            <a:r>
              <a:rPr lang="en-IN" sz="1000">
                <a:solidFill>
                  <a:srgbClr val="1E293B"/>
                </a:solidFill>
                <a:latin typeface="Segoe UI" panose="020B0502040204020203" pitchFamily="34" charset="0"/>
              </a:rPr>
              <a:t>  - Guarantees 100% service uptime: The system never crashes or hangs indefinitely.</a:t>
            </a:r>
          </a:p>
        </p:txBody>
      </p:sp>
    </p:spTree>
    <p:extLst>
      <p:ext uri="{BB962C8B-B14F-4D97-AF65-F5344CB8AC3E}">
        <p14:creationId xmlns:p14="http://schemas.microsoft.com/office/powerpoint/2010/main" val="339277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5A62D0-AB04-D811-0FF0-A98FBE40282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38B31-A2E4-B19A-750F-15419423B4E3}"/>
              </a:ext>
            </a:extLst>
          </p:cNvPr>
          <p:cNvSpPr txBox="1"/>
          <p:nvPr/>
        </p:nvSpPr>
        <p:spPr>
          <a:xfrm>
            <a:off x="444500" y="177800"/>
            <a:ext cx="11303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50" b="1">
                <a:solidFill>
                  <a:srgbClr val="0D9488"/>
                </a:solidFill>
                <a:latin typeface="Segoe UI" panose="020B0502040204020203" pitchFamily="34" charset="0"/>
              </a:rPr>
              <a:t>RAG, MCP &amp; GOVERNANCE WORKING</a:t>
            </a:r>
          </a:p>
          <a:p>
            <a:r>
              <a:rPr lang="en-US" sz="1900" b="1">
                <a:solidFill>
                  <a:srgbClr val="0F172A"/>
                </a:solidFill>
                <a:latin typeface="Segoe UI" panose="020B0502040204020203" pitchFamily="34" charset="0"/>
              </a:rPr>
              <a:t>Technical Working: RAG Pipeline, MCP Tool Protocol &amp; Business Rules</a:t>
            </a:r>
          </a:p>
          <a:p>
            <a:r>
              <a:rPr lang="en-US" sz="1050">
                <a:solidFill>
                  <a:srgbClr val="475569"/>
                </a:solidFill>
                <a:latin typeface="Segoe UI" panose="020B0502040204020203" pitchFamily="34" charset="0"/>
              </a:rPr>
              <a:t>Dual AI Integration Patterns: Semantic Knowledge Retrieval vs. Deterministic Tool Execution</a:t>
            </a:r>
            <a:endParaRPr lang="en-IN" sz="105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EA1811-8331-25F3-2819-FB98F5218597}"/>
              </a:ext>
            </a:extLst>
          </p:cNvPr>
          <p:cNvSpPr/>
          <p:nvPr/>
        </p:nvSpPr>
        <p:spPr>
          <a:xfrm>
            <a:off x="444500" y="1117600"/>
            <a:ext cx="3632200" cy="5486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452F28-4940-02B0-A4F9-BA91878F057E}"/>
              </a:ext>
            </a:extLst>
          </p:cNvPr>
          <p:cNvSpPr/>
          <p:nvPr/>
        </p:nvSpPr>
        <p:spPr>
          <a:xfrm>
            <a:off x="469900" y="1143000"/>
            <a:ext cx="3581400" cy="4445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15C1D-BE05-3AB4-97A8-B8E016047D81}"/>
              </a:ext>
            </a:extLst>
          </p:cNvPr>
          <p:cNvSpPr txBox="1"/>
          <p:nvPr/>
        </p:nvSpPr>
        <p:spPr>
          <a:xfrm>
            <a:off x="596900" y="1244600"/>
            <a:ext cx="3327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2563EB"/>
                </a:solidFill>
                <a:latin typeface="Segoe UI" panose="020B0502040204020203" pitchFamily="34" charset="0"/>
              </a:rPr>
              <a:t>RAG Pipeline Working Mechanism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5D1ED-0778-15DE-B3C7-749CC5E947EB}"/>
              </a:ext>
            </a:extLst>
          </p:cNvPr>
          <p:cNvSpPr txBox="1"/>
          <p:nvPr/>
        </p:nvSpPr>
        <p:spPr>
          <a:xfrm>
            <a:off x="596900" y="1574800"/>
            <a:ext cx="3327400" cy="273613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1. Document Ingestion Phase: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Reads inventory_manual.md.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RecursiveTextSplitter creates 800-character chunks with 120-character overlap.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nomic-embed-text generates dense vector representations.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Stored in ChromaDB (inventory_manual collection).</a:t>
            </a:r>
          </a:p>
          <a:p>
            <a:endParaRPr lang="en-IN" sz="920">
              <a:solidFill>
                <a:srgbClr val="1E293B"/>
              </a:solidFill>
              <a:latin typeface="Segoe UI" panose="020B0502040204020203" pitchFamily="34" charset="0"/>
            </a:endParaRP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2. Query Retrieval Phase: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User asks question on policy/formulas.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Cosine similarity retrieves top-4 most relevant chunks.</a:t>
            </a:r>
          </a:p>
          <a:p>
            <a:endParaRPr lang="en-IN" sz="920">
              <a:solidFill>
                <a:srgbClr val="1E293B"/>
              </a:solidFill>
              <a:latin typeface="Segoe UI" panose="020B0502040204020203" pitchFamily="34" charset="0"/>
            </a:endParaRP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3. Grounded Synthesis Phase: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Ollama (Llama 3.1) receives context + question.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Strict system prompt forbids assumptions.</a:t>
            </a:r>
          </a:p>
          <a:p>
            <a:endParaRPr lang="en-IN" sz="920">
              <a:solidFill>
                <a:srgbClr val="1E293B"/>
              </a:solidFill>
              <a:latin typeface="Segoe UI" panose="020B0502040204020203" pitchFamily="34" charset="0"/>
            </a:endParaRP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4. Anti-Hallucination Guardrail: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Computes token overlap between answer &amp; context.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If vocabulary match is low or empty -&gt; Returns deterministic fallback.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9D6E43-5ACB-5CFB-3577-EB5E64C0CA34}"/>
              </a:ext>
            </a:extLst>
          </p:cNvPr>
          <p:cNvSpPr/>
          <p:nvPr/>
        </p:nvSpPr>
        <p:spPr>
          <a:xfrm>
            <a:off x="4279900" y="1117600"/>
            <a:ext cx="3632200" cy="5486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8C5392-B528-8F2E-B90F-C529A5FF56CB}"/>
              </a:ext>
            </a:extLst>
          </p:cNvPr>
          <p:cNvSpPr/>
          <p:nvPr/>
        </p:nvSpPr>
        <p:spPr>
          <a:xfrm>
            <a:off x="4305300" y="1143000"/>
            <a:ext cx="3581400" cy="44450"/>
          </a:xfrm>
          <a:prstGeom prst="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16A481-510E-C288-182B-5D3519B548B7}"/>
              </a:ext>
            </a:extLst>
          </p:cNvPr>
          <p:cNvSpPr txBox="1"/>
          <p:nvPr/>
        </p:nvSpPr>
        <p:spPr>
          <a:xfrm>
            <a:off x="4432300" y="1244600"/>
            <a:ext cx="3327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0D9488"/>
                </a:solidFill>
                <a:latin typeface="Segoe UI" panose="020B0502040204020203" pitchFamily="34" charset="0"/>
              </a:rPr>
              <a:t>MCP Protocol Working Mechanism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644479-0F38-1937-B2FC-C806B9E65EE0}"/>
              </a:ext>
            </a:extLst>
          </p:cNvPr>
          <p:cNvSpPr txBox="1"/>
          <p:nvPr/>
        </p:nvSpPr>
        <p:spPr>
          <a:xfrm>
            <a:off x="4432300" y="1574800"/>
            <a:ext cx="3327400" cy="287771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1. FastMCP Server Initialization: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mcp_app.py exposes 6 operational tools: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  * get_low_stock_products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  * get_supplier_catalog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  * get_purchase_orders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  * update_stock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  * create_purchase_order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  * get_inventory_dashboard</a:t>
            </a:r>
          </a:p>
          <a:p>
            <a:endParaRPr lang="en-IN" sz="920">
              <a:solidFill>
                <a:srgbClr val="1E293B"/>
              </a:solidFill>
              <a:latin typeface="Segoe UI" panose="020B0502040204020203" pitchFamily="34" charset="0"/>
            </a:endParaRP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2. Tool Call Execution: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Client/Agent issues JSON-RPC tool invocation.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FastMCP intercepts call, starts OpenTelemetry trace span.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Dispatches authenticated HTTP request (Bearer JWT) to Spring Boot REST API.</a:t>
            </a:r>
          </a:p>
          <a:p>
            <a:endParaRPr lang="en-IN" sz="920">
              <a:solidFill>
                <a:srgbClr val="1E293B"/>
              </a:solidFill>
              <a:latin typeface="Segoe UI" panose="020B0502040204020203" pitchFamily="34" charset="0"/>
            </a:endParaRP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3. Error Isolation &amp; Resilience: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- 10s HTTP timeout prevents blocking.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Catches ConnectionError, Timeout, HTTPError.</a:t>
            </a:r>
          </a:p>
          <a:p>
            <a:r>
              <a:rPr lang="en-IN" sz="920">
                <a:solidFill>
                  <a:srgbClr val="1E293B"/>
                </a:solidFill>
                <a:latin typeface="Segoe UI" panose="020B0502040204020203" pitchFamily="34" charset="0"/>
              </a:rPr>
              <a:t>   - Converts failures into structured error JSON instead of raising exceptions.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BD7740-9478-E38E-42DE-A01584C8B25A}"/>
              </a:ext>
            </a:extLst>
          </p:cNvPr>
          <p:cNvSpPr/>
          <p:nvPr/>
        </p:nvSpPr>
        <p:spPr>
          <a:xfrm>
            <a:off x="8115300" y="1117600"/>
            <a:ext cx="3632200" cy="5486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506578-4E74-F481-8D27-33C1633B2AD0}"/>
              </a:ext>
            </a:extLst>
          </p:cNvPr>
          <p:cNvSpPr/>
          <p:nvPr/>
        </p:nvSpPr>
        <p:spPr>
          <a:xfrm>
            <a:off x="8140700" y="1143000"/>
            <a:ext cx="3581400" cy="4445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814214-9981-4645-A4AF-19E970CAA498}"/>
              </a:ext>
            </a:extLst>
          </p:cNvPr>
          <p:cNvSpPr txBox="1"/>
          <p:nvPr/>
        </p:nvSpPr>
        <p:spPr>
          <a:xfrm>
            <a:off x="8267700" y="1244600"/>
            <a:ext cx="3327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200" b="1">
                <a:solidFill>
                  <a:srgbClr val="7C3AED"/>
                </a:solidFill>
                <a:latin typeface="Segoe UI" panose="020B0502040204020203" pitchFamily="34" charset="0"/>
              </a:rPr>
              <a:t>Business Rules &amp; Human-in-the-Loop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EBA527-1E2C-B6C4-362D-5B345D3888BC}"/>
              </a:ext>
            </a:extLst>
          </p:cNvPr>
          <p:cNvSpPr txBox="1"/>
          <p:nvPr/>
        </p:nvSpPr>
        <p:spPr>
          <a:xfrm>
            <a:off x="8267700" y="1574800"/>
            <a:ext cx="3327400" cy="287771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1. Inventory Availability Formula:</a:t>
            </a: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   - Available = On-Hand - Reserved.</a:t>
            </a: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   - Reserved stock for pending orders is never double-allocated.</a:t>
            </a:r>
          </a:p>
          <a:p>
            <a:endParaRPr lang="en-US" sz="920">
              <a:solidFill>
                <a:srgbClr val="1E293B"/>
              </a:solidFill>
              <a:latin typeface="Segoe UI" panose="020B0502040204020203" pitchFamily="34" charset="0"/>
            </a:endParaRP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2. Negative Inventory Prevention:</a:t>
            </a: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   - Stock adjustments checked inside transactional service boundaries (@Transactional).</a:t>
            </a: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   - Rejects updates if resulting balance &lt; 0.</a:t>
            </a:r>
          </a:p>
          <a:p>
            <a:endParaRPr lang="en-US" sz="920">
              <a:solidFill>
                <a:srgbClr val="1E293B"/>
              </a:solidFill>
              <a:latin typeface="Segoe UI" panose="020B0502040204020203" pitchFamily="34" charset="0"/>
            </a:endParaRP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3. Immutable Audit Trails:</a:t>
            </a: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   - Every inbound/outbound event writes a StockMovement record.</a:t>
            </a:r>
          </a:p>
          <a:p>
            <a:endParaRPr lang="en-US" sz="920">
              <a:solidFill>
                <a:srgbClr val="1E293B"/>
              </a:solidFill>
              <a:latin typeface="Segoe UI" panose="020B0502040204020203" pitchFamily="34" charset="0"/>
            </a:endParaRP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4. Human-in-the-Loop (HITL) Gate:</a:t>
            </a: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   - AI agents generate recommendations only.</a:t>
            </a: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   - No automated financial commitment: Purchase orders require human manager approval via React frontend UI.</a:t>
            </a:r>
          </a:p>
          <a:p>
            <a:r>
              <a:rPr lang="en-US" sz="920">
                <a:solidFill>
                  <a:srgbClr val="1E293B"/>
                </a:solidFill>
                <a:latin typeface="Segoe UI" panose="020B0502040204020203" pitchFamily="34" charset="0"/>
              </a:rPr>
              <a:t>   - Prevents AI hallucinations from causing unauthorized purchasing.</a:t>
            </a:r>
            <a:endParaRPr lang="en-IN" sz="920">
              <a:solidFill>
                <a:srgbClr val="1E293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031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2251</Words>
  <Application>Microsoft Office PowerPoint</Application>
  <PresentationFormat>Custom</PresentationFormat>
  <Paragraphs>247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Muthamizh</dc:creator>
  <cp:lastModifiedBy>Muthamizh</cp:lastModifiedBy>
  <cp:revision>1</cp:revision>
  <dcterms:created xsi:type="dcterms:W3CDTF">2026-10-13T06:50:08Z</dcterms:created>
  <dcterms:modified xsi:type="dcterms:W3CDTF">2026-10-13T06:50:08Z</dcterms:modified>
</cp:coreProperties>
</file>